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06056" y="1271016"/>
            <a:ext cx="4270248" cy="3973900"/>
          </a:xfrm>
          <a:prstGeom prst="roundRect">
            <a:avLst>
              <a:gd name="adj" fmla="val 1841"/>
            </a:avLst>
          </a:prstGeom>
          <a:solidFill>
            <a:srgbClr val="FFF9F2"/>
          </a:solidFill>
          <a:ln/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pic>
        <p:nvPicPr>
          <p:cNvPr id="3" name="Image 0" descr="foun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417320"/>
            <a:ext cx="3977640" cy="34069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52360" y="484258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of AZEAP: a big piece of paper. Version 10: their own story.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85800" y="1371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A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PROFIT  ·  PRODUCT ROADMAP  ·  AUGUST 2026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" y="1783080"/>
            <a:ext cx="6492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first ten tasks unmissable.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388620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glorified to-do list to a story every kid needs to finish — a mini-tool for every step, a watchtower over the cohort, and a graphic-novel engine that turns checked boxes into chapters.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8580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9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Peter  ·  firstprofit.school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app stands today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801368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5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68096" y="256032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firstprofit.school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0712" y="160020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801368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5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11880" y="256032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players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game today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4496" y="160020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801368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7D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55664" y="256032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arriving in the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10-family cohort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98280" y="160020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99448" y="1801368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B4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25/25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299448" y="256032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have 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UI surface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611880"/>
            <a:ext cx="5440680" cy="2651760"/>
          </a:xfrm>
          <a:prstGeom prst="roundRect">
            <a:avLst>
              <a:gd name="adj" fmla="val 3103"/>
            </a:avLst>
          </a:prstGeom>
          <a:solidFill>
            <a:srgbClr val="F7FBF7"/>
          </a:solidFill>
          <a:ln w="15875">
            <a:solidFill>
              <a:srgbClr val="D8E8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867912"/>
            <a:ext cx="475488" cy="475488"/>
          </a:xfrm>
          <a:prstGeom prst="ellipse">
            <a:avLst/>
          </a:prstGeom>
          <a:solidFill>
            <a:srgbClr val="E2F0E8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587" y="3991539"/>
            <a:ext cx="228234" cy="22823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26464" y="39136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Recently shipped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914400" y="43891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Phase 2 — provider lesson, per-sale fees, live in prod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login + “Create Account” link-out to the120 /start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Pitch Builder for task 1.1.2 — your four-beat visual, already in the app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timestamps already stamped per task in every save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190488" y="3611880"/>
            <a:ext cx="5440680" cy="2651760"/>
          </a:xfrm>
          <a:prstGeom prst="roundRect">
            <a:avLst>
              <a:gd name="adj" fmla="val 3103"/>
            </a:avLst>
          </a:prstGeom>
          <a:solidFill>
            <a:srgbClr val="FDF8F1"/>
          </a:solidFill>
          <a:ln w="15875">
            <a:solidFill>
              <a:srgbClr val="EDDFC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46520" y="3867912"/>
            <a:ext cx="475488" cy="475488"/>
          </a:xfrm>
          <a:prstGeom prst="ellipse">
            <a:avLst/>
          </a:prstGeom>
          <a:solidFill>
            <a:srgbClr val="F7EDD8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147" y="3991539"/>
            <a:ext cx="228234" cy="22823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050024" y="39136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8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Staged and waiting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6537960" y="43891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site (firstprofit.school/handle) — launch checklist ready to run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cohort provisioning spec approved — 10 parents / 17 children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Parked: /fp retirement, student mailboxes, live money (Phase 3)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is the product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FBEAE1"/>
          </a:solidFill>
          <a:ln w="15875">
            <a:solidFill>
              <a:srgbClr val="F2CD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10512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4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“Education is 90% motivation and 10% content.”</a:t>
            </a: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Profit already has the content. This roadmap is about the other 90%.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3291840"/>
            <a:ext cx="3584448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566160"/>
            <a:ext cx="566928" cy="566928"/>
          </a:xfrm>
          <a:prstGeom prst="ellipse">
            <a:avLst/>
          </a:prstGeom>
          <a:solidFill>
            <a:srgbClr val="FBEAE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3713561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65576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8C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2960" y="4297680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05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Delight the first ten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22960" y="4773168"/>
            <a:ext cx="3072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purpose-built mini-tool for every one of the ten tasks between “pick a product” and a first real sale — no step is just a checkbox.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89120" y="3291840"/>
            <a:ext cx="3584448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45152" y="3566160"/>
            <a:ext cx="566928" cy="566928"/>
          </a:xfrm>
          <a:prstGeom prst="ellipse">
            <a:avLst/>
          </a:prstGeom>
          <a:solidFill>
            <a:srgbClr val="E3EBF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553" y="3713561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87768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8C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645152" y="4297680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F5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where they stall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4645152" y="4773168"/>
            <a:ext cx="3072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staff watchtower over the cohort’s completion timestamps: who is charging ahead, who has been parked on 1.1.3 for a week.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211312" y="3291840"/>
            <a:ext cx="3584448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67344" y="3566160"/>
            <a:ext cx="566928" cy="566928"/>
          </a:xfrm>
          <a:prstGeom prst="ellipse">
            <a:avLst/>
          </a:prstGeom>
          <a:solidFill>
            <a:srgbClr val="EBE5F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745" y="3713561"/>
            <a:ext cx="272125" cy="2721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10996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8C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8467344" y="4297680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6B4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progress into story</a:t>
            </a:r>
            <a:endParaRPr lang="en-US" sz="1750" dirty="0"/>
          </a:p>
        </p:txBody>
      </p:sp>
      <p:sp>
        <p:nvSpPr>
          <p:cNvPr id="23" name="Text 18"/>
          <p:cNvSpPr/>
          <p:nvPr/>
        </p:nvSpPr>
        <p:spPr>
          <a:xfrm>
            <a:off x="8467344" y="4773168"/>
            <a:ext cx="3072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completed task draws the next panel of that kid’s own graphic novel. The to-do list becomes a book they are the hero of.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RUNWAY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tasks from idea to first real sale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4068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783080"/>
            <a:ext cx="4983480" cy="502920"/>
          </a:xfrm>
          <a:prstGeom prst="roundRect">
            <a:avLst>
              <a:gd name="adj" fmla="val 10909"/>
            </a:avLst>
          </a:prstGeom>
          <a:solidFill>
            <a:srgbClr val="FBEAE1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1819656"/>
            <a:ext cx="4572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5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 ·  The 60-second pitch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9536" y="2532888"/>
            <a:ext cx="402336" cy="402336"/>
          </a:xfrm>
          <a:prstGeom prst="ellipse">
            <a:avLst/>
          </a:prstGeom>
          <a:solidFill>
            <a:srgbClr val="E0562A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35608" y="24871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product &amp; one-liner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17136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4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Sparker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59536" y="3255264"/>
            <a:ext cx="402336" cy="402336"/>
          </a:xfrm>
          <a:prstGeom prst="ellipse">
            <a:avLst/>
          </a:prstGeom>
          <a:solidFill>
            <a:srgbClr val="E0562A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3255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35608" y="320954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60-second pitch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17136" y="32369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Builder ✓ live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59536" y="3977640"/>
            <a:ext cx="402336" cy="402336"/>
          </a:xfrm>
          <a:prstGeom prst="ellipse">
            <a:avLst/>
          </a:prstGeom>
          <a:solidFill>
            <a:srgbClr val="E0562A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35608" y="39319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to camera, note-free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17136" y="39593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4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Rehearsal Studio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9536" y="4700016"/>
            <a:ext cx="402336" cy="402336"/>
          </a:xfrm>
          <a:prstGeom prst="ellipse">
            <a:avLst/>
          </a:prstGeom>
          <a:solidFill>
            <a:srgbClr val="E0562A"/>
          </a:solidFill>
          <a:ln/>
        </p:spPr>
      </p:sp>
      <p:sp>
        <p:nvSpPr>
          <p:cNvPr id="20" name="Text 18"/>
          <p:cNvSpPr/>
          <p:nvPr/>
        </p:nvSpPr>
        <p:spPr>
          <a:xfrm>
            <a:off x="859536" y="4700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435608" y="465429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Cold-pitch a parent &amp; revise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17136" y="4681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4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Log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59536" y="5422392"/>
            <a:ext cx="402336" cy="402336"/>
          </a:xfrm>
          <a:prstGeom prst="ellipse">
            <a:avLst/>
          </a:prstGeom>
          <a:solidFill>
            <a:srgbClr val="E0562A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" y="5422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435608" y="53766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to a non-family adult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17136" y="54041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4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Say-Back Card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90488" y="1554480"/>
            <a:ext cx="544068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19088" y="1783080"/>
            <a:ext cx="4983480" cy="502920"/>
          </a:xfrm>
          <a:prstGeom prst="roundRect">
            <a:avLst>
              <a:gd name="adj" fmla="val 10909"/>
            </a:avLst>
          </a:prstGeom>
          <a:solidFill>
            <a:srgbClr val="E2F0E8"/>
          </a:solidFill>
          <a:ln/>
        </p:spPr>
      </p:sp>
      <p:sp>
        <p:nvSpPr>
          <p:cNvPr id="29" name="Text 27"/>
          <p:cNvSpPr/>
          <p:nvPr/>
        </p:nvSpPr>
        <p:spPr>
          <a:xfrm>
            <a:off x="6647688" y="1819656"/>
            <a:ext cx="4572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 ·  The first real sale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83096" y="2532888"/>
            <a:ext cx="402336" cy="402336"/>
          </a:xfrm>
          <a:prstGeom prst="ellipse">
            <a:avLst/>
          </a:prstGeom>
          <a:solidFill>
            <a:srgbClr val="2E7D53"/>
          </a:solidFill>
          <a:ln/>
        </p:spPr>
      </p:sp>
      <p:sp>
        <p:nvSpPr>
          <p:cNvPr id="31" name="Text 29"/>
          <p:cNvSpPr/>
          <p:nvPr/>
        </p:nvSpPr>
        <p:spPr>
          <a:xfrm>
            <a:off x="6483096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059168" y="24871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offer, set the price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140696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4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Picker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83096" y="3255264"/>
            <a:ext cx="402336" cy="402336"/>
          </a:xfrm>
          <a:prstGeom prst="ellipse">
            <a:avLst/>
          </a:prstGeom>
          <a:solidFill>
            <a:srgbClr val="2E7D53"/>
          </a:solidFill>
          <a:ln/>
        </p:spPr>
      </p:sp>
      <p:sp>
        <p:nvSpPr>
          <p:cNvPr id="35" name="Text 33"/>
          <p:cNvSpPr/>
          <p:nvPr/>
        </p:nvSpPr>
        <p:spPr>
          <a:xfrm>
            <a:off x="6483096" y="3255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059168" y="320954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ten-prospect list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0140696" y="32369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4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Ten-List Builder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83096" y="3977640"/>
            <a:ext cx="402336" cy="402336"/>
          </a:xfrm>
          <a:prstGeom prst="ellipse">
            <a:avLst/>
          </a:prstGeom>
          <a:solidFill>
            <a:srgbClr val="2E7D53"/>
          </a:solidFill>
          <a:ln/>
        </p:spPr>
      </p:sp>
      <p:sp>
        <p:nvSpPr>
          <p:cNvPr id="39" name="Text 37"/>
          <p:cNvSpPr/>
          <p:nvPr/>
        </p:nvSpPr>
        <p:spPr>
          <a:xfrm>
            <a:off x="6483096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059168" y="39319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point of sale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0140696" y="39593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4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 Rehearsal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83096" y="4700016"/>
            <a:ext cx="402336" cy="402336"/>
          </a:xfrm>
          <a:prstGeom prst="ellipse">
            <a:avLst/>
          </a:prstGeom>
          <a:solidFill>
            <a:srgbClr val="2E7D53"/>
          </a:solidFill>
          <a:ln/>
        </p:spPr>
      </p:sp>
      <p:sp>
        <p:nvSpPr>
          <p:cNvPr id="43" name="Text 41"/>
          <p:cNvSpPr/>
          <p:nvPr/>
        </p:nvSpPr>
        <p:spPr>
          <a:xfrm>
            <a:off x="6483096" y="4700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059168" y="465429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until one yes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0140696" y="4681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4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Tracker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83096" y="5422392"/>
            <a:ext cx="402336" cy="402336"/>
          </a:xfrm>
          <a:prstGeom prst="ellipse">
            <a:avLst/>
          </a:prstGeom>
          <a:solidFill>
            <a:srgbClr val="2E7D53"/>
          </a:solidFill>
          <a:ln/>
        </p:spPr>
      </p:sp>
      <p:sp>
        <p:nvSpPr>
          <p:cNvPr id="47" name="Text 45"/>
          <p:cNvSpPr/>
          <p:nvPr/>
        </p:nvSpPr>
        <p:spPr>
          <a:xfrm>
            <a:off x="6483096" y="5422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7059168" y="53766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Deliver, thank and log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10140696" y="54041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4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Logger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138160" y="6309360"/>
            <a:ext cx="3493008" cy="384048"/>
          </a:xfrm>
          <a:prstGeom prst="roundRect">
            <a:avLst>
              <a:gd name="adj" fmla="val 14286"/>
            </a:avLst>
          </a:prstGeom>
          <a:solidFill>
            <a:srgbClr val="2E7D53"/>
          </a:solidFill>
          <a:ln/>
        </p:spPr>
      </p:sp>
      <p:sp>
        <p:nvSpPr>
          <p:cNvPr id="51" name="Text 49"/>
          <p:cNvSpPr/>
          <p:nvPr/>
        </p:nvSpPr>
        <p:spPr>
          <a:xfrm>
            <a:off x="8138160" y="630936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10 = MONEY IN HAND. A FOUNDER IS BORN.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MINI-TOOL  ·  TASK 1.1.1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 Sparker — mad-libs for a money-maker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852160" cy="4663440"/>
          </a:xfrm>
          <a:prstGeom prst="roundRect">
            <a:avLst>
              <a:gd name="adj" fmla="val 1765"/>
            </a:avLst>
          </a:prstGeom>
          <a:solidFill>
            <a:srgbClr val="FFFDF9"/>
          </a:solidFill>
          <a:ln w="15875">
            <a:solidFill>
              <a:srgbClr val="EFE4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47088"/>
            <a:ext cx="512064" cy="512064"/>
          </a:xfrm>
          <a:prstGeom prst="ellipse">
            <a:avLst/>
          </a:prstGeom>
          <a:solidFill>
            <a:srgbClr val="FBEAE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817" y="1980225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019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Spin up ideas from two picks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468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IT FOR?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14400" y="2779776"/>
            <a:ext cx="1042416" cy="384048"/>
          </a:xfrm>
          <a:prstGeom prst="roundRect">
            <a:avLst>
              <a:gd name="adj" fmla="val 50000"/>
            </a:avLst>
          </a:prstGeom>
          <a:solidFill>
            <a:srgbClr val="E0562A"/>
          </a:solidFill>
          <a:ln w="12700">
            <a:solidFill>
              <a:srgbClr val="E056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779776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owners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112264" y="2779776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CB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12264" y="27797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collectors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685032" y="2779776"/>
            <a:ext cx="967435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CBB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85032" y="2779776"/>
            <a:ext cx="967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street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14400" y="3520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THING?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14400" y="3831336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CBB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38313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good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487168" y="3831336"/>
            <a:ext cx="1117397" cy="384048"/>
          </a:xfrm>
          <a:prstGeom prst="roundRect">
            <a:avLst>
              <a:gd name="adj" fmla="val 50000"/>
            </a:avLst>
          </a:prstGeom>
          <a:solidFill>
            <a:srgbClr val="E0562A"/>
          </a:solidFill>
          <a:ln w="12700">
            <a:solidFill>
              <a:srgbClr val="E056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87168" y="3831336"/>
            <a:ext cx="11173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Custom-made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760013" y="3831336"/>
            <a:ext cx="742493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CBB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60013" y="3831336"/>
            <a:ext cx="7424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14400" y="466344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E0562A"/>
          </a:solidFill>
          <a:ln/>
          <a:effectLst>
            <a:outerShdw sx="100000" sy="100000" kx="0" ky="0" algn="bl" rotWithShape="0" blurRad="101600" dist="38100" dir="5400000">
              <a:srgbClr val="B8431E">
                <a:alpha val="9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914400" y="4663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3 ideas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14400" y="53949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84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“Custom name-tag charms for dog owners — sold at the Saturday park meetup.”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720840" y="1600200"/>
            <a:ext cx="4910328" cy="466344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004304" y="1847088"/>
            <a:ext cx="512064" cy="512064"/>
          </a:xfrm>
          <a:prstGeom prst="ellipse">
            <a:avLst/>
          </a:prstGeom>
          <a:solidFill>
            <a:srgbClr val="F7EDD8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441" y="1980225"/>
            <a:ext cx="245791" cy="245791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644384" y="19019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Money-maker or hobby?</a:t>
            </a:r>
            <a:endParaRPr lang="en-US" sz="1700" dirty="0"/>
          </a:p>
        </p:txBody>
      </p:sp>
      <p:sp>
        <p:nvSpPr>
          <p:cNvPr id="29" name="Shape 25"/>
          <p:cNvSpPr/>
          <p:nvPr/>
        </p:nvSpPr>
        <p:spPr>
          <a:xfrm>
            <a:off x="7040880" y="2542032"/>
            <a:ext cx="310896" cy="310896"/>
          </a:xfrm>
          <a:prstGeom prst="ellipse">
            <a:avLst/>
          </a:prstGeom>
          <a:solidFill>
            <a:srgbClr val="E2F0E8"/>
          </a:solidFill>
          <a:ln w="12700">
            <a:solidFill>
              <a:srgbClr val="2E7D53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172" y="2592324"/>
            <a:ext cx="210312" cy="21031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498080" y="2514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 stranger pay for it?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7040880" y="3108960"/>
            <a:ext cx="310896" cy="310896"/>
          </a:xfrm>
          <a:prstGeom prst="ellipse">
            <a:avLst/>
          </a:prstGeom>
          <a:solidFill>
            <a:srgbClr val="E2F0E8"/>
          </a:solidFill>
          <a:ln w="12700">
            <a:solidFill>
              <a:srgbClr val="2E7D53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172" y="3159252"/>
            <a:ext cx="210312" cy="21031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498080" y="30815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make it again this week?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7040880" y="3675888"/>
            <a:ext cx="310896" cy="310896"/>
          </a:xfrm>
          <a:prstGeom prst="ellipse">
            <a:avLst/>
          </a:prstGeom>
          <a:solidFill>
            <a:srgbClr val="E2F0E8"/>
          </a:solidFill>
          <a:ln w="12700">
            <a:solidFill>
              <a:srgbClr val="2E7D53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172" y="3726180"/>
            <a:ext cx="210312" cy="21031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498080" y="36484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price beat the cost?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7040880" y="4242816"/>
            <a:ext cx="310896" cy="310896"/>
          </a:xfrm>
          <a:prstGeom prst="ellipse">
            <a:avLst/>
          </a:prstGeom>
          <a:solidFill>
            <a:srgbClr val="E2F0E8"/>
          </a:solidFill>
          <a:ln w="12700">
            <a:solidFill>
              <a:srgbClr val="2E7D53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1172" y="4293108"/>
            <a:ext cx="210312" cy="21031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498080" y="421538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name your first buyer?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7040880" y="4983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10058400" y="4983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MONEY-MAKER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7040880" y="5285232"/>
            <a:ext cx="4480560" cy="274320"/>
          </a:xfrm>
          <a:prstGeom prst="roundRect">
            <a:avLst>
              <a:gd name="adj" fmla="val 50000"/>
            </a:avLst>
          </a:prstGeom>
          <a:solidFill>
            <a:srgbClr val="F0EAE2"/>
          </a:solidFill>
          <a:ln/>
        </p:spPr>
      </p:sp>
      <p:sp>
        <p:nvSpPr>
          <p:cNvPr id="44" name="Shape 36"/>
          <p:cNvSpPr/>
          <p:nvPr/>
        </p:nvSpPr>
        <p:spPr>
          <a:xfrm>
            <a:off x="7040880" y="5285232"/>
            <a:ext cx="3337560" cy="274320"/>
          </a:xfrm>
          <a:prstGeom prst="roundRect">
            <a:avLst>
              <a:gd name="adj" fmla="val 50000"/>
            </a:avLst>
          </a:prstGeom>
          <a:solidFill>
            <a:srgbClr val="2E7D53"/>
          </a:solidFill>
          <a:ln/>
        </p:spPr>
      </p:sp>
      <p:sp>
        <p:nvSpPr>
          <p:cNvPr id="45" name="Text 37"/>
          <p:cNvSpPr/>
          <p:nvPr/>
        </p:nvSpPr>
        <p:spPr>
          <a:xfrm>
            <a:off x="7040880" y="57150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four — this one can make money. Write the one-liner.</a:t>
            </a:r>
            <a:endParaRPr lang="en-US" sz="1150" dirty="0"/>
          </a:p>
        </p:txBody>
      </p:sp>
      <p:sp>
        <p:nvSpPr>
          <p:cNvPr id="46" name="Text 38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MINI-TOOL  ·  TASK 1.1.2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Pitch Builder — already in the app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9601200" y="713232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2E7D5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0" y="7132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6309360" cy="4663440"/>
          </a:xfrm>
          <a:prstGeom prst="roundRect">
            <a:avLst>
              <a:gd name="adj" fmla="val 1765"/>
            </a:avLst>
          </a:prstGeom>
          <a:solidFill>
            <a:srgbClr val="FFFDF9"/>
          </a:solidFill>
          <a:ln w="15875">
            <a:solidFill>
              <a:srgbClr val="EFE4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1051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120-words-in-60-seconds visual, live as four beats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68680" y="2331720"/>
            <a:ext cx="5715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459736"/>
            <a:ext cx="384048" cy="384048"/>
          </a:xfrm>
          <a:prstGeom prst="ellipse">
            <a:avLst/>
          </a:prstGeom>
          <a:solidFill>
            <a:srgbClr val="E0562A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2423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  </a:t>
            </a:r>
            <a:pPr indent="0" marL="0">
              <a:buNone/>
            </a:pPr>
            <a:r>
              <a:rPr lang="en-US" sz="11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that makes them look up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12064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words  ·  10s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3090672"/>
            <a:ext cx="5715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" y="3218688"/>
            <a:ext cx="384048" cy="384048"/>
          </a:xfrm>
          <a:prstGeom prst="ellipse">
            <a:avLst/>
          </a:prstGeom>
          <a:solidFill>
            <a:srgbClr val="2F5D8C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128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54480" y="31821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  </a:t>
            </a:r>
            <a:pPr indent="0" marL="0">
              <a:buNone/>
            </a:pPr>
            <a:r>
              <a:rPr lang="en-US" sz="11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description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120640" y="31821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5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words  ·  15s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3849624"/>
            <a:ext cx="5715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4128" y="3977640"/>
            <a:ext cx="384048" cy="384048"/>
          </a:xfrm>
          <a:prstGeom prst="ellipse">
            <a:avLst/>
          </a:prstGeom>
          <a:solidFill>
            <a:srgbClr val="6B4E8C"/>
          </a:solidFill>
          <a:ln/>
        </p:spPr>
      </p:sp>
      <p:sp>
        <p:nvSpPr>
          <p:cNvPr id="20" name="Text 18"/>
          <p:cNvSpPr/>
          <p:nvPr/>
        </p:nvSpPr>
        <p:spPr>
          <a:xfrm>
            <a:off x="1024128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54480" y="39410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good   </a:t>
            </a:r>
            <a:pPr indent="0" marL="0">
              <a:buNone/>
            </a:pPr>
            <a:r>
              <a:rPr lang="en-US" sz="11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and the benefit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120640" y="39410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words  ·  20s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4608576"/>
            <a:ext cx="5715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9E1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4736592"/>
            <a:ext cx="384048" cy="384048"/>
          </a:xfrm>
          <a:prstGeom prst="ellipse">
            <a:avLst/>
          </a:prstGeom>
          <a:solidFill>
            <a:srgbClr val="2E7D53"/>
          </a:solidFill>
          <a:ln/>
        </p:spPr>
      </p:sp>
      <p:sp>
        <p:nvSpPr>
          <p:cNvPr id="25" name="Text 23"/>
          <p:cNvSpPr/>
          <p:nvPr/>
        </p:nvSpPr>
        <p:spPr>
          <a:xfrm>
            <a:off x="1024128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54480" y="47000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  </a:t>
            </a:r>
            <a:pPr indent="0" marL="0">
              <a:buNone/>
            </a:pPr>
            <a:r>
              <a:rPr lang="en-US" sz="11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to do next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120640" y="47000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words  ·  15s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54864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120 words · 60 seconds · live word meters, a read-aloud timer, and a 150-word hard cap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178040" y="1600200"/>
            <a:ext cx="4453128" cy="4663440"/>
          </a:xfrm>
          <a:prstGeom prst="roundRect">
            <a:avLst>
              <a:gd name="adj" fmla="val 1848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61504" y="1847088"/>
            <a:ext cx="512064" cy="512064"/>
          </a:xfrm>
          <a:prstGeom prst="ellipse">
            <a:avLst/>
          </a:prstGeom>
          <a:solidFill>
            <a:srgbClr val="EBE5F2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641" y="1980225"/>
            <a:ext cx="245791" cy="245791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101584" y="19019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Polish worth adding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7498080" y="2514600"/>
            <a:ext cx="3886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celebration beat the moment the meter turns “ready” — the win should feel like one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“Now rehearse it” hand-off straight into the 1.1.3 Rehearsal Studio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worked example pitch per age band, a tap away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Per-beat coach hints (“a hook is a question or a surprise”)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MINI-TOOL  ·  TASK 1.1.3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Rehearsal Studio — record, listen, repeat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6309360" cy="4663440"/>
          </a:xfrm>
          <a:prstGeom prst="roundRect">
            <a:avLst>
              <a:gd name="adj" fmla="val 1765"/>
            </a:avLst>
          </a:prstGeom>
          <a:solidFill>
            <a:srgbClr val="FFFDF9"/>
          </a:solidFill>
          <a:ln w="15875">
            <a:solidFill>
              <a:srgbClr val="EFE4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20240"/>
            <a:ext cx="566928" cy="566928"/>
          </a:xfrm>
          <a:prstGeom prst="ellipse">
            <a:avLst/>
          </a:prstGeom>
          <a:solidFill>
            <a:srgbClr val="FBEAE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513" y="206764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9019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27632" y="226771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starts a 60-second take of the pitch — audio first, camera optional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179576" y="2542032"/>
            <a:ext cx="0" cy="777240"/>
          </a:xfrm>
          <a:prstGeom prst="line">
            <a:avLst/>
          </a:prstGeom>
          <a:noFill/>
          <a:ln w="25400">
            <a:solidFill>
              <a:srgbClr val="E4D5C4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896112" y="3337560"/>
            <a:ext cx="566928" cy="566928"/>
          </a:xfrm>
          <a:prstGeom prst="ellipse">
            <a:avLst/>
          </a:prstGeom>
          <a:solidFill>
            <a:srgbClr val="FBEAE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13" y="348496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27632" y="33192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it back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27632" y="368503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kid hears themselves immediately; a take stays playable for 15 minutes, then deletes itself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1179576" y="3959352"/>
            <a:ext cx="0" cy="777240"/>
          </a:xfrm>
          <a:prstGeom prst="line">
            <a:avLst/>
          </a:prstGeom>
          <a:noFill/>
          <a:ln w="25400">
            <a:solidFill>
              <a:srgbClr val="E4D5C4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896112" y="4754880"/>
            <a:ext cx="566928" cy="566928"/>
          </a:xfrm>
          <a:prstGeom prst="ellipse">
            <a:avLst/>
          </a:prstGeom>
          <a:solidFill>
            <a:srgbClr val="FBEAE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13" y="490228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27632" y="47365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the clean runs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27632" y="510235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take: “note-free and under 60s?” Three clean runs in a row completes the task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178040" y="1600200"/>
            <a:ext cx="4453128" cy="4663440"/>
          </a:xfrm>
          <a:prstGeom prst="roundRect">
            <a:avLst>
              <a:gd name="adj" fmla="val 1848"/>
            </a:avLst>
          </a:prstGeom>
          <a:solidFill>
            <a:srgbClr val="F7FBF7"/>
          </a:solidFill>
          <a:ln w="15875">
            <a:solidFill>
              <a:srgbClr val="D8E8D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61504" y="1847088"/>
            <a:ext cx="512064" cy="512064"/>
          </a:xfrm>
          <a:prstGeom prst="ellipse">
            <a:avLst/>
          </a:prstGeom>
          <a:solidFill>
            <a:srgbClr val="E2F0E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4641" y="1980225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01584" y="19019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by design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498080" y="2514600"/>
            <a:ext cx="3886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 never leave the device — captured in the browser, played from memory, never uploaded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self-destruct on every take, exactly as you sketched it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clean-run count enters the save doc — no audio, no video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no new COPPA surface, no policy work, no storage bill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MINI-TOOLS  ·  TASKS 1.1.4 → 1.2.5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tools for the other seven steps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2633472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865376"/>
            <a:ext cx="493776" cy="493776"/>
          </a:xfrm>
          <a:prstGeom prst="ellipse">
            <a:avLst/>
          </a:prstGeom>
          <a:solidFill>
            <a:srgbClr val="F4EEE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478" y="1993758"/>
            <a:ext cx="237012" cy="237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190195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8096" y="251460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Objection Log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8096" y="2889504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parent’s honest objection and the one revision it caused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0712" y="1645920"/>
            <a:ext cx="2633472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11880" y="1865376"/>
            <a:ext cx="493776" cy="493776"/>
          </a:xfrm>
          <a:prstGeom prst="ellipse">
            <a:avLst/>
          </a:prstGeom>
          <a:solidFill>
            <a:srgbClr val="F4EEE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262" y="1993758"/>
            <a:ext cx="237012" cy="2370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75504" y="190195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1.1.5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611880" y="251460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Say-Back Card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11880" y="2889504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adult, the date, and what they said back — the pass evidence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54496" y="1645920"/>
            <a:ext cx="2633472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55664" y="1865376"/>
            <a:ext cx="493776" cy="493776"/>
          </a:xfrm>
          <a:prstGeom prst="ellipse">
            <a:avLst/>
          </a:prstGeom>
          <a:solidFill>
            <a:srgbClr val="F4EEE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046" y="1993758"/>
            <a:ext cx="237012" cy="2370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19288" y="190195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1.2.1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55664" y="251460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Picker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55664" y="2889504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vs. price slider that shows profit per unit as they drag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098280" y="1645920"/>
            <a:ext cx="2633472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299448" y="1865376"/>
            <a:ext cx="493776" cy="493776"/>
          </a:xfrm>
          <a:prstGeom prst="ellipse">
            <a:avLst/>
          </a:prstGeom>
          <a:solidFill>
            <a:srgbClr val="F4EEE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830" y="1993758"/>
            <a:ext cx="237012" cy="2370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863072" y="190195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1.2.2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299448" y="251460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Ten-List Builder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299448" y="2889504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names + a channel for each, with a parent safety approve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66928" y="3931920"/>
            <a:ext cx="2633472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68096" y="4151376"/>
            <a:ext cx="493776" cy="493776"/>
          </a:xfrm>
          <a:prstGeom prst="ellipse">
            <a:avLst/>
          </a:prstGeom>
          <a:solidFill>
            <a:srgbClr val="F4EEE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478" y="4279758"/>
            <a:ext cx="237012" cy="2370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331720" y="418795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1.2.3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768096" y="480060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Dress Rehearsal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768096" y="5175504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runner: greeting → ask → payment → delivery → thank-you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3410712" y="3931920"/>
            <a:ext cx="2633472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3611880" y="4151376"/>
            <a:ext cx="493776" cy="493776"/>
          </a:xfrm>
          <a:prstGeom prst="ellipse">
            <a:avLst/>
          </a:prstGeom>
          <a:solidFill>
            <a:srgbClr val="F4EEE6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0262" y="4279758"/>
            <a:ext cx="237012" cy="23701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175504" y="418795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1.2.4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3611880" y="480060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Tracker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3611880" y="5175504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tap per real ask, a streak flame, and one giant YES button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6254496" y="3931920"/>
            <a:ext cx="2633472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6455664" y="4151376"/>
            <a:ext cx="493776" cy="493776"/>
          </a:xfrm>
          <a:prstGeom prst="ellipse">
            <a:avLst/>
          </a:prstGeom>
          <a:solidFill>
            <a:srgbClr val="F4EEE6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4046" y="4279758"/>
            <a:ext cx="237012" cy="23701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8019288" y="418795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B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1.2.5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6455664" y="480060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 Logger</a:t>
            </a:r>
            <a:endParaRPr lang="en-US" sz="1500" dirty="0"/>
          </a:p>
        </p:txBody>
      </p:sp>
      <p:sp>
        <p:nvSpPr>
          <p:cNvPr id="45" name="Text 36"/>
          <p:cNvSpPr/>
          <p:nvPr/>
        </p:nvSpPr>
        <p:spPr>
          <a:xfrm>
            <a:off x="6455664" y="5175504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what, amount, date + a photo — then the confetti moment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9098280" y="3931920"/>
            <a:ext cx="2633472" cy="2084832"/>
          </a:xfrm>
          <a:prstGeom prst="roundRect">
            <a:avLst>
              <a:gd name="adj" fmla="val 3947"/>
            </a:avLst>
          </a:prstGeom>
          <a:solidFill>
            <a:srgbClr val="3B2D23"/>
          </a:solidFill>
          <a:ln w="15875">
            <a:solidFill>
              <a:srgbClr val="3B2D23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7736" y="4169664"/>
            <a:ext cx="384048" cy="38404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9299448" y="470916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</a:t>
            </a:r>
            <a:endParaRPr lang="en-US" sz="1500" dirty="0"/>
          </a:p>
        </p:txBody>
      </p:sp>
      <p:sp>
        <p:nvSpPr>
          <p:cNvPr id="49" name="Text 39"/>
          <p:cNvSpPr/>
          <p:nvPr/>
        </p:nvSpPr>
        <p:spPr>
          <a:xfrm>
            <a:off x="9299448" y="5084064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writes into the Founder File the kid already keeps — tools structure the step, they never do it for the kid.</a:t>
            </a:r>
            <a:endParaRPr lang="en-US" sz="1100" dirty="0"/>
          </a:p>
        </p:txBody>
      </p:sp>
      <p:sp>
        <p:nvSpPr>
          <p:cNvPr id="50" name="Text 40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5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 ·  SMALL BUILD, BIG EYES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Watchtower — see every kid’s journey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4206240" cy="4663440"/>
          </a:xfrm>
          <a:prstGeom prst="roundRect">
            <a:avLst>
              <a:gd name="adj" fmla="val 1957"/>
            </a:avLst>
          </a:prstGeom>
          <a:solidFill>
            <a:srgbClr val="E3EBF3"/>
          </a:solidFill>
          <a:ln w="15875">
            <a:solidFill>
              <a:srgbClr val="C7D7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84708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673" y="1980225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9616" y="19019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 part is done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96112" y="2487168"/>
            <a:ext cx="3611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already stamps a timestamp on every task completion, per task id, in each child’s save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/staff page already exists with staff-only sign-in and a hard 401 for anyone else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this is a read surface: one API endpoint, one new tab beside Suggestions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15–32 kids: no infra, no analytics vendor, ships in days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983480" y="1600200"/>
            <a:ext cx="6647688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39512" y="1819656"/>
            <a:ext cx="512064" cy="512064"/>
          </a:xfrm>
          <a:prstGeom prst="ellipse">
            <a:avLst/>
          </a:prstGeom>
          <a:solidFill>
            <a:srgbClr val="E3EBF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649" y="1952793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978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funnel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897880" y="214884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kids have passed each of the ten tasks — the drop-off step lights up red. This is the “what do I fix next” chart.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983480" y="3200400"/>
            <a:ext cx="6647688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239512" y="3419856"/>
            <a:ext cx="512064" cy="512064"/>
          </a:xfrm>
          <a:prstGeom prst="ellipse">
            <a:avLst/>
          </a:prstGeom>
          <a:solidFill>
            <a:srgbClr val="E3EBF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649" y="3552993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89788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Kid timelines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897880" y="374904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child, a dot per completion. Bursts show momentum; long flat gaps show where a kid quietly stalled.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983480" y="4800600"/>
            <a:ext cx="6647688" cy="1444752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239512" y="5020056"/>
            <a:ext cx="512064" cy="512064"/>
          </a:xfrm>
          <a:prstGeom prst="ellipse">
            <a:avLst/>
          </a:prstGeom>
          <a:solidFill>
            <a:srgbClr val="E3EBF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649" y="5153193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97880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stuck list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897880" y="534924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kid with no completion in 7+ days, with the exact task they’re parked on — your daily two-minute check.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2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A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 ·  THE BIG BET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kid’s journey becomes their own graphic novel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D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panel per completed task · a page per criterion · a chapter per phase — 125 panels by the capstone, drawn for their business, their product, their words. The kid is the hero.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4A3A2E"/>
          </a:solidFill>
          <a:ln w="12700">
            <a:solidFill>
              <a:srgbClr val="5E4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487168"/>
            <a:ext cx="512064" cy="512064"/>
          </a:xfrm>
          <a:prstGeom prst="ellipse">
            <a:avLst/>
          </a:prstGeom>
          <a:solidFill>
            <a:srgbClr val="FFF6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945" y="2620305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84832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73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9808" y="31546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done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49808" y="3502152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checked box fires a panel job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596896" y="3246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839212" y="228600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4A3A2E"/>
          </a:solidFill>
          <a:ln w="12700">
            <a:solidFill>
              <a:srgbClr val="5E4B3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22092" y="2487168"/>
            <a:ext cx="512064" cy="512064"/>
          </a:xfrm>
          <a:prstGeom prst="ellipse">
            <a:avLst/>
          </a:prstGeom>
          <a:solidFill>
            <a:srgbClr val="FFF6E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229" y="2620305"/>
            <a:ext cx="245791" cy="24579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57116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73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022092" y="31546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brief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022092" y="3502152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product + their pitch words + the task’s story beat + the style bible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869180" y="3246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111496" y="228600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4A3A2E"/>
          </a:solidFill>
          <a:ln w="12700">
            <a:solidFill>
              <a:srgbClr val="5E4B3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294376" y="2487168"/>
            <a:ext cx="512064" cy="512064"/>
          </a:xfrm>
          <a:prstGeom prst="ellipse">
            <a:avLst/>
          </a:prstGeom>
          <a:solidFill>
            <a:srgbClr val="FFF6E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513" y="2620305"/>
            <a:ext cx="245791" cy="24579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29400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73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5294376" y="31546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draws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5294376" y="3502152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panel in the locked Vol. 1 art style, hero avatar held consistent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7141464" y="3246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7383780" y="228600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4A3A2E"/>
          </a:solidFill>
          <a:ln w="12700">
            <a:solidFill>
              <a:srgbClr val="5E4B3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566660" y="2487168"/>
            <a:ext cx="512064" cy="512064"/>
          </a:xfrm>
          <a:prstGeom prst="ellipse">
            <a:avLst/>
          </a:prstGeom>
          <a:solidFill>
            <a:srgbClr val="FFF6EE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797" y="2620305"/>
            <a:ext cx="245791" cy="24579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901684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73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7566660" y="31546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gate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7566660" y="3502152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checks + your approval at first, spot-checks once prompts prove out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9413748" y="3246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9656064" y="228600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4A3A2E"/>
          </a:solidFill>
          <a:ln w="12700">
            <a:solidFill>
              <a:srgbClr val="5E4B3C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9838944" y="2487168"/>
            <a:ext cx="512064" cy="512064"/>
          </a:xfrm>
          <a:prstGeom prst="ellipse">
            <a:avLst/>
          </a:prstGeom>
          <a:solidFill>
            <a:srgbClr val="FFF6EE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2081" y="2620305"/>
            <a:ext cx="245791" cy="245791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1173968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73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0"/>
          <p:cNvSpPr/>
          <p:nvPr/>
        </p:nvSpPr>
        <p:spPr>
          <a:xfrm>
            <a:off x="9838944" y="31546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 grows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9838944" y="3502152"/>
            <a:ext cx="1719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panel lands on their Story wall — the reveal is the reward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566928" y="4892040"/>
            <a:ext cx="3584448" cy="1554480"/>
          </a:xfrm>
          <a:prstGeom prst="roundRect">
            <a:avLst>
              <a:gd name="adj" fmla="val 4706"/>
            </a:avLst>
          </a:prstGeom>
          <a:solidFill>
            <a:srgbClr val="2E231B"/>
          </a:solidFill>
          <a:ln w="12700">
            <a:solidFill>
              <a:srgbClr val="4A3A2E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786384" y="5056632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9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reveal is the reward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786384" y="5422392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a task, the story grows. Kids come back to see what happened next — to their own business.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4389120" y="4892040"/>
            <a:ext cx="3584448" cy="1554480"/>
          </a:xfrm>
          <a:prstGeom prst="roundRect">
            <a:avLst>
              <a:gd name="adj" fmla="val 4706"/>
            </a:avLst>
          </a:prstGeom>
          <a:solidFill>
            <a:srgbClr val="2E231B"/>
          </a:solidFill>
          <a:ln w="12700">
            <a:solidFill>
              <a:srgbClr val="4A3A2E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4608576" y="5056632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9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compounds</a:t>
            </a:r>
            <a:endParaRPr lang="en-US" sz="1400" dirty="0"/>
          </a:p>
        </p:txBody>
      </p:sp>
      <p:sp>
        <p:nvSpPr>
          <p:cNvPr id="44" name="Text 37"/>
          <p:cNvSpPr/>
          <p:nvPr/>
        </p:nvSpPr>
        <p:spPr>
          <a:xfrm>
            <a:off x="4608576" y="5422392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tasks in, they hold ten panels: proof they’re the founder in the story, not a kid doing chores.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8211312" y="4892040"/>
            <a:ext cx="3584448" cy="1554480"/>
          </a:xfrm>
          <a:prstGeom prst="roundRect">
            <a:avLst>
              <a:gd name="adj" fmla="val 4706"/>
            </a:avLst>
          </a:prstGeom>
          <a:solidFill>
            <a:srgbClr val="2E231B"/>
          </a:solidFill>
          <a:ln w="12700">
            <a:solidFill>
              <a:srgbClr val="4A3A2E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8430768" y="5056632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9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Parents get an artifact</a:t>
            </a:r>
            <a:endParaRPr lang="en-US" sz="1400" dirty="0"/>
          </a:p>
        </p:txBody>
      </p:sp>
      <p:sp>
        <p:nvSpPr>
          <p:cNvPr id="47" name="Text 40"/>
          <p:cNvSpPr/>
          <p:nvPr/>
        </p:nvSpPr>
        <p:spPr>
          <a:xfrm>
            <a:off x="8430768" y="5422392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printable, share-safe book of the journey — the fridge-door version of a progress report.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 ·  THE MODEL BOOK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1 — show them the ending first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complete, pre-authored graphic novel following an example founder through the whole Sell phase — 25 panels, finished art, a real story arc ending in a first sale.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358444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386584"/>
            <a:ext cx="530352" cy="530352"/>
          </a:xfrm>
          <a:prstGeom prst="ellipse">
            <a:avLst/>
          </a:prstGeom>
          <a:solidFill>
            <a:srgbClr val="EBE5F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564" y="2524476"/>
            <a:ext cx="254569" cy="2545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B4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preview of the prize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04672" y="346557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kids read Volume 1 on day one and see exactly what their own book will become. Wanting one is the hook.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2148840"/>
            <a:ext cx="358444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2386584"/>
            <a:ext cx="530352" cy="530352"/>
          </a:xfrm>
          <a:prstGeom prst="ellipse">
            <a:avLst/>
          </a:prstGeom>
          <a:solidFill>
            <a:srgbClr val="F7EDD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756" y="2524476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26864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8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style bible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26864" y="346557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1 locks the character design language, palette, and panel grammar the engine must reproduce — it becomes the prompt kit.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11312" y="2148840"/>
            <a:ext cx="358444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49056" y="2386584"/>
            <a:ext cx="530352" cy="530352"/>
          </a:xfrm>
          <a:prstGeom prst="ellipse">
            <a:avLst/>
          </a:prstGeom>
          <a:solidFill>
            <a:srgbClr val="E2F0E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948" y="2524476"/>
            <a:ext cx="254569" cy="25456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49056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7D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quality bar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449056" y="346557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generated panel ships only if it sits comfortably next to a Volume 1 page. If it doesn’t, the prompt fails, not the kid.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66928" y="470916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FBF7FD"/>
          </a:solidFill>
          <a:ln w="15875">
            <a:solidFill>
              <a:srgbClr val="DDD0E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59536" y="4956048"/>
            <a:ext cx="512064" cy="512064"/>
          </a:xfrm>
          <a:prstGeom prst="ellipse">
            <a:avLst/>
          </a:prstGeom>
          <a:solidFill>
            <a:srgbClr val="EBE5F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673" y="5089185"/>
            <a:ext cx="245791" cy="2457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99616" y="493776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B4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 in the app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1499616" y="5321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Volume 1 page renders beside the kid’s own still-empty page for the same tasks — the exemplar shows what’s possible, the blank panel makes them want to earn theirs. Their book fills in as the checkboxes fall.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8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 ·  BUILD THIS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Image Lab — prompt in, panel out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6309360" cy="466344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847088"/>
            <a:ext cx="512064" cy="512064"/>
          </a:xfrm>
          <a:prstGeom prst="ellipse">
            <a:avLst/>
          </a:prstGeom>
          <a:solidFill>
            <a:srgbClr val="F7ED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673" y="1980225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9616" y="1901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staff-only test bench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96112" y="2487168"/>
            <a:ext cx="5715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 + character sheet in, Gemini image out — a grid of candidates with keep / reject / notes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drill: the same hero across ten different panels — the make-or-break test for the novel engine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drill: does every output sit next to Volume 1 art without a seam?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Kid-appeal drill: show candidates to your in-house 9-year-old jury and log the verdicts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kept prompt becomes part of the engine’s prompt kit — nothing tested here is throwaway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178040" y="1600200"/>
            <a:ext cx="4453128" cy="1170432"/>
          </a:xfrm>
          <a:prstGeom prst="roundRect">
            <a:avLst>
              <a:gd name="adj" fmla="val 7031"/>
            </a:avLst>
          </a:prstGeom>
          <a:solidFill>
            <a:srgbClr val="F7EDD8"/>
          </a:solidFill>
          <a:ln w="15875">
            <a:solidFill>
              <a:srgbClr val="EBD9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52360" y="176479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~4¢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9006840" y="176479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generated panel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(Gemini Flash Image class)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78040" y="2926080"/>
            <a:ext cx="4453128" cy="1170432"/>
          </a:xfrm>
          <a:prstGeom prst="roundRect">
            <a:avLst>
              <a:gd name="adj" fmla="val 7031"/>
            </a:avLst>
          </a:prstGeom>
          <a:solidFill>
            <a:srgbClr val="F7EDD8"/>
          </a:solidFill>
          <a:ln w="15875">
            <a:solidFill>
              <a:srgbClr val="EBD9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2360" y="309067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~$5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9006840" y="309067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kid’s full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125-panel journey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178040" y="4251960"/>
            <a:ext cx="4453128" cy="1170432"/>
          </a:xfrm>
          <a:prstGeom prst="roundRect">
            <a:avLst>
              <a:gd name="adj" fmla="val 7031"/>
            </a:avLst>
          </a:prstGeom>
          <a:solidFill>
            <a:srgbClr val="F7EDD8"/>
          </a:solidFill>
          <a:ln w="15875">
            <a:solidFill>
              <a:srgbClr val="EBD9B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52360" y="44165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~$85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9006840" y="441655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entire 17-kid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cohort, first pass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178040" y="5623560"/>
            <a:ext cx="4453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a rounding error — the real risks are consistency and style, which is exactly what the Lab tests. (Re-check current Gemini image pricing before launch; ~4¢ is the Flash-class list price.)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order of attack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84448" cy="3977640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819656"/>
            <a:ext cx="3145536" cy="475488"/>
          </a:xfrm>
          <a:prstGeom prst="roundRect">
            <a:avLst>
              <a:gd name="adj" fmla="val 11538"/>
            </a:avLst>
          </a:prstGeom>
          <a:solidFill>
            <a:srgbClr val="E3EBF3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1837944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F5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·  WEEKS 1–2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77824" y="251460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Watchtower v1 on /staff — funnel + stuck list over existing timestamps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Lab v1 — Gemini key, prompt bench, first style tests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Volume 1 hero, story arc, and art direction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584448" cy="3977640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08576" y="1819656"/>
            <a:ext cx="3145536" cy="475488"/>
          </a:xfrm>
          <a:prstGeom prst="roundRect">
            <a:avLst>
              <a:gd name="adj" fmla="val 11538"/>
            </a:avLst>
          </a:prstGeom>
          <a:solidFill>
            <a:srgbClr val="FBEAE1"/>
          </a:solidFill>
          <a:ln/>
        </p:spPr>
      </p:sp>
      <p:sp>
        <p:nvSpPr>
          <p:cNvPr id="10" name="Text 8"/>
          <p:cNvSpPr/>
          <p:nvPr/>
        </p:nvSpPr>
        <p:spPr>
          <a:xfrm>
            <a:off x="4809744" y="1837944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·  WEEKS 3–5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00016" y="251460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Sparker (1.1.1) and Rehearsal Studio (1.1.3) — the two missing hero tools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tools for 1.1.4 → 1.2.5 — mostly structured fields + celebration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1 pages for the first ten tasks, authored in the Lab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11312" y="1600200"/>
            <a:ext cx="3584448" cy="3977640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30768" y="1819656"/>
            <a:ext cx="3145536" cy="475488"/>
          </a:xfrm>
          <a:prstGeom prst="roundRect">
            <a:avLst>
              <a:gd name="adj" fmla="val 11538"/>
            </a:avLst>
          </a:prstGeom>
          <a:solidFill>
            <a:srgbClr val="EBE5F2"/>
          </a:solidFill>
          <a:ln/>
        </p:spPr>
      </p:sp>
      <p:sp>
        <p:nvSpPr>
          <p:cNvPr id="14" name="Text 12"/>
          <p:cNvSpPr/>
          <p:nvPr/>
        </p:nvSpPr>
        <p:spPr>
          <a:xfrm>
            <a:off x="8631936" y="1837944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B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 ·  WEEKS 6–9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22208" y="251460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engine MVP scoped to the first ten tasks only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wall in the app — panels reveal as tasks complete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Watchtower: expand tools + panels wherever kids stall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80644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FF9F2"/>
          </a:solidFill>
          <a:ln w="15875">
            <a:solidFill>
              <a:srgbClr val="F2CD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8704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4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order:  </a:t>
            </a:r>
            <a:pPr indent="0" marL="0">
              <a:buNone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Watchtower first means every later change gets measured, and scoping the engine to ten panels means the delight goal and the novel converge on the same ten tasks.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OPEN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3B2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to make early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440680" cy="2176272"/>
          </a:xfrm>
          <a:prstGeom prst="roundRect">
            <a:avLst>
              <a:gd name="adj" fmla="val 3782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56232"/>
            <a:ext cx="548640" cy="548640"/>
          </a:xfrm>
          <a:prstGeom prst="ellipse">
            <a:avLst/>
          </a:prstGeom>
          <a:solidFill>
            <a:srgbClr val="E2F0E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" y="199887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187452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 likeness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27048" y="2313432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 is an avatar the kid designs — never their photo or likeness. Panels stay fictional art about a real journey, and the COPPA posture stays clean.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0488" y="1600200"/>
            <a:ext cx="5440680" cy="2176272"/>
          </a:xfrm>
          <a:prstGeom prst="roundRect">
            <a:avLst>
              <a:gd name="adj" fmla="val 3782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28232" y="1856232"/>
            <a:ext cx="548640" cy="548640"/>
          </a:xfrm>
          <a:prstGeom prst="ellipse">
            <a:avLst/>
          </a:prstGeom>
          <a:solidFill>
            <a:srgbClr val="E3EBF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878" y="199887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0608" y="187452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review gate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150608" y="2313432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approve every generated panel before a kid sees it — at 17 kids that’s minutes a day. Relax to spot-checks only once the prompt kit has earned 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6928" y="3977640"/>
            <a:ext cx="5440680" cy="2176272"/>
          </a:xfrm>
          <a:prstGeom prst="roundRect">
            <a:avLst>
              <a:gd name="adj" fmla="val 3782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4233672"/>
            <a:ext cx="548640" cy="548640"/>
          </a:xfrm>
          <a:prstGeom prst="ellipse">
            <a:avLst/>
          </a:prstGeom>
          <a:solidFill>
            <a:srgbClr val="FBEAE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" y="4376318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27048" y="42519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5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is a feature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527048" y="4690872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 don’t need to appear instantly. “Your next panel is being drawn…” with a reveal on the next visit beats a spinner — anticipation is half the fun.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90488" y="3977640"/>
            <a:ext cx="5440680" cy="2176272"/>
          </a:xfrm>
          <a:prstGeom prst="roundRect">
            <a:avLst>
              <a:gd name="adj" fmla="val 3782"/>
            </a:avLst>
          </a:prstGeom>
          <a:solidFill>
            <a:srgbClr val="FFFFFF"/>
          </a:solidFill>
          <a:ln w="15875">
            <a:solidFill>
              <a:srgbClr val="E9E1D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28232" y="4233672"/>
            <a:ext cx="548640" cy="548640"/>
          </a:xfrm>
          <a:prstGeom prst="ellipse">
            <a:avLst/>
          </a:prstGeom>
          <a:solidFill>
            <a:srgbClr val="EBE5F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878" y="4376318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50608" y="425196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4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risk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150608" y="4690872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art drifts. Character sheet + reference-image conditioning + Volume 1 as the bar — and the Image Lab proves all three before the engine ships.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B2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A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WE’LL KNOW IT WORKED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signs of success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4A3A2E"/>
          </a:solidFill>
          <a:ln w="12700">
            <a:solidFill>
              <a:srgbClr val="5E4B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75104"/>
            <a:ext cx="512064" cy="512064"/>
          </a:xfrm>
          <a:prstGeom prst="ellipse">
            <a:avLst/>
          </a:prstGeom>
          <a:solidFill>
            <a:srgbClr val="FFF6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809" y="2108241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95681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A9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cohort kid clears task 10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81328" y="2359152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17 make a first real sale within about 30 days of starting — the whole point of the runway.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90488" y="173736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4A3A2E"/>
          </a:solidFill>
          <a:ln w="12700">
            <a:solidFill>
              <a:srgbClr val="5E4B3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28232" y="1975104"/>
            <a:ext cx="512064" cy="512064"/>
          </a:xfrm>
          <a:prstGeom prst="ellipse">
            <a:avLst/>
          </a:prstGeom>
          <a:solidFill>
            <a:srgbClr val="FFF6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369" y="2108241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04888" y="195681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A9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Time-to-first-sale is visible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104888" y="2359152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Watchtower shows the number, and each tool we ship moves it down.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66928" y="352044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4A3A2E"/>
          </a:solidFill>
          <a:ln w="12700">
            <a:solidFill>
              <a:srgbClr val="5E4B3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758184"/>
            <a:ext cx="512064" cy="512064"/>
          </a:xfrm>
          <a:prstGeom prst="ellipse">
            <a:avLst/>
          </a:prstGeom>
          <a:solidFill>
            <a:srgbClr val="FFF6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809" y="3891321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81328" y="373989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A9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stuck list runs empty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481328" y="4142232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days than not, no kid has been parked on a task for a week.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90488" y="352044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4A3A2E"/>
          </a:solidFill>
          <a:ln w="12700">
            <a:solidFill>
              <a:srgbClr val="5E4B3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28232" y="3758184"/>
            <a:ext cx="512064" cy="512064"/>
          </a:xfrm>
          <a:prstGeom prst="ellipse">
            <a:avLst/>
          </a:prstGeom>
          <a:solidFill>
            <a:srgbClr val="FFF6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369" y="3891321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04888" y="373989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0A9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Kids log in for the story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104888" y="4142232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C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tell: they open the app to see the new panel, not to check a box.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66928" y="56235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to-do list stays. It just becomes a story.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11503152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A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2026-08-05T15:17:21Z</dcterms:created>
  <dcterms:modified xsi:type="dcterms:W3CDTF">2026-08-05T15:17:21Z</dcterms:modified>
</cp:coreProperties>
</file>